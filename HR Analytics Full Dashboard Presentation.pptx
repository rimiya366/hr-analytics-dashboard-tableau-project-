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  <p:sldId id="264" r:id="rId10"/>
    <p:sldId id="265" r:id="rId11"/>
  </p:sldIdLst>
  <p:sldSz cx="12192000" cy="6858000"/>
  <p:notesSz cx="6858000" cy="9144000"/>
  <p:embeddedFontLst>
    <p:embeddedFont>
      <p:font typeface="Poppins" panose="020B060402020202020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Poppins SemiBold" panose="020B0604020202020204" charset="0"/>
      <p:regular r:id="rId21"/>
      <p:bold r:id="rId22"/>
      <p:italic r:id="rId23"/>
      <p:boldItalic r:id="rId24"/>
    </p:embeddedFont>
    <p:embeddedFont>
      <p:font typeface="Inter SemiBold" panose="020B0604020202020204" charset="0"/>
      <p:regular r:id="rId25"/>
      <p:bold r:id="rId26"/>
      <p:italic r:id="rId27"/>
      <p:boldItalic r:id="rId28"/>
    </p:embeddedFont>
    <p:embeddedFont>
      <p:font typeface="Poppins Medium" panose="020B0604020202020204" charset="0"/>
      <p:regular r:id="rId29"/>
      <p:bold r:id="rId30"/>
      <p:italic r:id="rId31"/>
      <p:boldItalic r:id="rId32"/>
    </p:embeddedFont>
    <p:embeddedFont>
      <p:font typeface="Inter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887A5C-5722-4D29-B5DC-802AD1F19338}">
  <a:tblStyle styleId="{4E887A5C-5722-4D29-B5DC-802AD1F1933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theme" Target="theme/theme1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7" name="Google Shape;2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76275" y="2969865"/>
            <a:ext cx="9154894" cy="61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Enterprise HR Analytics Deep-Dive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76275" y="3872805"/>
            <a:ext cx="8572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comprehensive, unfiltered workforce diagnostic model profiling the entire corporate footprint of 1,470 employees. Strategic insights extracted from the global dashboard parameters.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715000" y="2944713"/>
            <a:ext cx="762000" cy="381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580560" y="3173313"/>
            <a:ext cx="7030878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Global Workforce Diagnostics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719262" y="3889474"/>
            <a:ext cx="8753475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Dashboard to  tackle one of the biggest challenge faced in business employee turn-over.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754510"/>
            <a:ext cx="4706242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3517" y="3086992"/>
            <a:ext cx="2799903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15821" y="3086992"/>
            <a:ext cx="2799903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63517" y="4168973"/>
            <a:ext cx="2799903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15821" y="4168973"/>
            <a:ext cx="2799903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19150" y="485775"/>
            <a:ext cx="1123140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Global Enterprise Headline Metrics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676275" y="485775"/>
            <a:ext cx="47625" cy="36567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066800" y="3145035"/>
            <a:ext cx="3925192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b="1" i="0" u="none" strike="noStrike" cap="none">
                <a:solidFill>
                  <a:srgbClr val="00F2FE"/>
                </a:solidFill>
                <a:latin typeface="Poppins"/>
                <a:ea typeface="Poppins"/>
                <a:cs typeface="Poppins"/>
                <a:sym typeface="Poppins"/>
              </a:rPr>
              <a:t>16.12%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66800" y="4116585"/>
            <a:ext cx="392519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ATTRITION RATE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63517" y="2363092"/>
            <a:ext cx="39243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25442" y="244405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963542" y="3287017"/>
            <a:ext cx="2519846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EMPLOYEES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963542" y="3492698"/>
            <a:ext cx="239985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1,470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915846" y="3287017"/>
            <a:ext cx="2519846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ATTRITION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915846" y="3492698"/>
            <a:ext cx="239985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237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963542" y="4368998"/>
            <a:ext cx="2519846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ACTIVE HEADCOUNT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963542" y="4574678"/>
            <a:ext cx="239985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1,233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915846" y="4368998"/>
            <a:ext cx="2519846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AVERAGE AGE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915846" y="4574678"/>
            <a:ext cx="239985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37 Yrs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16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035373"/>
            <a:ext cx="5229225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35373"/>
            <a:ext cx="5229225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3911798"/>
            <a:ext cx="47339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178498"/>
            <a:ext cx="47339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74681" y="2949772"/>
            <a:ext cx="1468279" cy="1540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23925" y="4178498"/>
            <a:ext cx="173727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19150" y="485775"/>
            <a:ext cx="1123140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Gender &amp; Departmental Attrition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676275" y="485775"/>
            <a:ext cx="47625" cy="36567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23925" y="2283023"/>
            <a:ext cx="497062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Attrition by Gender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923925" y="2606873"/>
            <a:ext cx="47339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923925" y="4807148"/>
            <a:ext cx="47339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Attrition continues to run heavily in the male demographic group, making up nearly two-thirds of all departures recorded across the global organization.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34150" y="2283023"/>
            <a:ext cx="497062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Department Wise Attrition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6534150" y="2606873"/>
            <a:ext cx="47339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534150" y="4807148"/>
            <a:ext cx="4733925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Research and development </a:t>
            </a:r>
            <a:r>
              <a:rPr lang="en-US" sz="975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leads corporate turnover at 56.12%, but </a:t>
            </a:r>
            <a:r>
              <a:rPr lang="en-US" sz="975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sales </a:t>
            </a:r>
            <a:r>
              <a:rPr lang="en-US" sz="975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is also a significant concern with 92 departures (38.82%).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9379743" y="3333411"/>
            <a:ext cx="2135982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    R&amp;D</a:t>
            </a:r>
            <a:r>
              <a:rPr lang="en-US" sz="1050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133 (56.12%)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9379743" y="3612017"/>
            <a:ext cx="14478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   Sales</a:t>
            </a:r>
            <a:r>
              <a:rPr lang="en-US" sz="1050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92 (38.82%)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9379743" y="3907292"/>
            <a:ext cx="144780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   HR</a:t>
            </a:r>
            <a:r>
              <a:rPr lang="en-US" sz="1050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 (5.06%)</a:t>
            </a: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9379743" y="3359348"/>
            <a:ext cx="114300" cy="157162"/>
          </a:xfrm>
          <a:prstGeom prst="roundRect">
            <a:avLst>
              <a:gd name="adj" fmla="val 25000"/>
            </a:avLst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9379743" y="3654622"/>
            <a:ext cx="114300" cy="164563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9379743" y="3949898"/>
            <a:ext cx="99537" cy="175062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089570"/>
            <a:ext cx="10839450" cy="528265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19150" y="485775"/>
            <a:ext cx="1123140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Education Field Wise Attrition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76275" y="485775"/>
            <a:ext cx="47625" cy="36567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76275" y="4511873"/>
            <a:ext cx="10839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Combined, employees with academic backgrounds in Life Sciences and Medical fields comprise 152 of our 237 total departures, representing an staggering 64.1% of global attrition.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089570"/>
            <a:ext cx="10839450" cy="5282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2546002"/>
            <a:ext cx="2053530" cy="194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72680" y="2546002"/>
            <a:ext cx="2053530" cy="194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69085" y="2546002"/>
            <a:ext cx="2053679" cy="194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65640" y="2546002"/>
            <a:ext cx="2053530" cy="194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62045" y="2546002"/>
            <a:ext cx="2053679" cy="194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50602" y="2984152"/>
            <a:ext cx="9048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47008" y="2984152"/>
            <a:ext cx="9048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643413" y="2984152"/>
            <a:ext cx="9048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839967" y="2984152"/>
            <a:ext cx="9048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36373" y="2984152"/>
            <a:ext cx="9048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345852" y="3079402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42258" y="3079402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738663" y="3079402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935217" y="3079402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131623" y="3079402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819150" y="485775"/>
            <a:ext cx="1123140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Gender Attrition by Age Group Cohorts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676275" y="485775"/>
            <a:ext cx="47625" cy="36567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1433006" y="2698402"/>
            <a:ext cx="54006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25 - 34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3619410" y="2698402"/>
            <a:ext cx="56007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35 - 44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5815816" y="2698402"/>
            <a:ext cx="56007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45 - 54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7992367" y="2698402"/>
            <a:ext cx="6000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Over 55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10143767" y="2698402"/>
            <a:ext cx="69008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Under 25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828675" y="4003327"/>
            <a:ext cx="1748730" cy="1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Male:</a:t>
            </a:r>
            <a:r>
              <a:rPr lang="en-US" sz="825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29.11% (69)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828675" y="4168973"/>
            <a:ext cx="1748730" cy="1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Female:</a:t>
            </a:r>
            <a:r>
              <a:rPr lang="en-US" sz="825" b="0" i="0" u="none" strike="noStrike" cap="none">
                <a:solidFill>
                  <a:srgbClr val="00F2F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18.14% (43)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3025080" y="4003327"/>
            <a:ext cx="1748730" cy="1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Male:</a:t>
            </a:r>
            <a:r>
              <a:rPr lang="en-US" sz="825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15.61% (37)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3025080" y="4168973"/>
            <a:ext cx="1748730" cy="1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Female:</a:t>
            </a:r>
            <a:r>
              <a:rPr lang="en-US" sz="825" b="0" i="0" u="none" strike="noStrike" cap="none">
                <a:solidFill>
                  <a:srgbClr val="00F2F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5.91% (14)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5221485" y="4003327"/>
            <a:ext cx="1748879" cy="1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Male:</a:t>
            </a:r>
            <a:r>
              <a:rPr lang="en-US" sz="825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6.75% (16)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5221485" y="4168973"/>
            <a:ext cx="1748879" cy="1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Female:</a:t>
            </a:r>
            <a:r>
              <a:rPr lang="en-US" sz="825" b="0" i="0" u="none" strike="noStrike" cap="none">
                <a:solidFill>
                  <a:srgbClr val="00F2F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3.80% (9)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7418040" y="4003327"/>
            <a:ext cx="1748730" cy="1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Male:</a:t>
            </a:r>
            <a:r>
              <a:rPr lang="en-US" sz="825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3.38% (8)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7418040" y="4168973"/>
            <a:ext cx="1748730" cy="1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Female:</a:t>
            </a:r>
            <a:r>
              <a:rPr lang="en-US" sz="825" b="0" i="0" u="none" strike="noStrike" cap="none">
                <a:solidFill>
                  <a:srgbClr val="00F2F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1.27% (3)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9614445" y="4003327"/>
            <a:ext cx="1748879" cy="1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Male:</a:t>
            </a:r>
            <a:r>
              <a:rPr lang="en-US" sz="825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8.44% (20)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9614445" y="4168973"/>
            <a:ext cx="1748879" cy="14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Female:</a:t>
            </a:r>
            <a:r>
              <a:rPr lang="en-US" sz="825" b="0" i="0" u="none" strike="noStrike" cap="none">
                <a:solidFill>
                  <a:srgbClr val="00F2F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7.59% (18)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4" y="2621280"/>
            <a:ext cx="10926446" cy="194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089570"/>
            <a:ext cx="10839450" cy="528265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9"/>
          <p:cNvSpPr txBox="1"/>
          <p:nvPr/>
        </p:nvSpPr>
        <p:spPr>
          <a:xfrm>
            <a:off x="819150" y="485775"/>
            <a:ext cx="1123140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Active Employee Count by Age Group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676275" y="485775"/>
            <a:ext cx="47625" cy="36567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2159198"/>
            <a:ext cx="108394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806773"/>
            <a:ext cx="1083945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19150" y="342900"/>
            <a:ext cx="1123140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Job Satisfaction Rating by Role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676275" y="342900"/>
            <a:ext cx="47625" cy="36567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76275" y="5359598"/>
            <a:ext cx="10839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*Complete unfiltered company satisfaction matrix indicating strong satisfaction volumes in Sales Executives and Research Scientists, contrasted with major "Low" rating pockets.</a:t>
            </a:r>
            <a:endParaRPr/>
          </a:p>
        </p:txBody>
      </p:sp>
      <p:graphicFrame>
        <p:nvGraphicFramePr>
          <p:cNvPr id="165" name="Google Shape;165;p18"/>
          <p:cNvGraphicFramePr/>
          <p:nvPr>
            <p:extLst>
              <p:ext uri="{D42A27DB-BD31-4B8C-83A1-F6EECF244321}">
                <p14:modId xmlns:p14="http://schemas.microsoft.com/office/powerpoint/2010/main" val="3506220064"/>
              </p:ext>
            </p:extLst>
          </p:nvPr>
        </p:nvGraphicFramePr>
        <p:xfrm>
          <a:off x="685800" y="1816298"/>
          <a:ext cx="10820400" cy="3457575"/>
        </p:xfrm>
        <a:graphic>
          <a:graphicData uri="http://schemas.openxmlformats.org/drawingml/2006/table">
            <a:tbl>
              <a:tblPr firstRow="1" bandRow="1">
                <a:noFill/>
                <a:tableStyleId>{4E887A5C-5722-4D29-B5DC-802AD1F19338}</a:tableStyleId>
              </a:tblPr>
              <a:tblGrid>
                <a:gridCol w="315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Job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Low (1)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Medium (2)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 (3)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Very High (4)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Grand 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Healthcare Representative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Human Resources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Laboratory Technician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Manufacturing Director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Research Director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Research Scientist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292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Sales Executive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Sales Representative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00F2F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Grand 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00F2F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289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00F2F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00F2F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442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>
                          <a:solidFill>
                            <a:srgbClr val="00F2F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75" b="1" i="0" u="none" strike="noStrike" cap="none" dirty="0">
                          <a:solidFill>
                            <a:srgbClr val="00F2F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1,470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66" name="Google Shape;166;p18"/>
          <p:cNvSpPr/>
          <p:nvPr/>
        </p:nvSpPr>
        <p:spPr>
          <a:xfrm>
            <a:off x="685800" y="2116335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837682" y="2116335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056137" y="2116335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713190" y="2116335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012906" y="2116335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9848701" y="2116335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85800" y="2430660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3837682" y="2430660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056137" y="2430660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713190" y="2430660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8012906" y="2430660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9848701" y="2430660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85800" y="2744985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3837682" y="2744985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056137" y="2744985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713190" y="2744985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8012906" y="2744985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9848701" y="2744985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85800" y="3059310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3837682" y="3059310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056137" y="3059310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713190" y="3059310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012906" y="3059310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9848701" y="3059310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85800" y="3373635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3837682" y="3373635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056137" y="3373635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713190" y="3373635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8012906" y="3373635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9848701" y="3373635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85800" y="3687960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3837682" y="3687960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5056137" y="3687960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713190" y="3687960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8012906" y="3687960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9848701" y="3687960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85800" y="4002285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3837682" y="4002285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5056137" y="4002285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6713190" y="4002285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8012906" y="4002285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9848701" y="4002285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685800" y="4316610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3837682" y="4316610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5056137" y="4316610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713190" y="4316610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8012906" y="4316610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9848701" y="4316610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685800" y="4630935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3837682" y="4630935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5056137" y="4630935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713190" y="4630935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8012906" y="4630935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9848701" y="4630935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685800" y="4945260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3837682" y="4945260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5056137" y="4945260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713190" y="4945260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8012906" y="4945260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9848701" y="4945260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685800" y="5259585"/>
            <a:ext cx="31518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685800" y="4954785"/>
            <a:ext cx="3151882" cy="9525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3837682" y="5259585"/>
            <a:ext cx="12184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3837682" y="4954785"/>
            <a:ext cx="1218455" cy="9525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5056137" y="5259585"/>
            <a:ext cx="16570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5056137" y="4954785"/>
            <a:ext cx="1657052" cy="9525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6713190" y="5259585"/>
            <a:ext cx="12997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6713190" y="4954785"/>
            <a:ext cx="1299716" cy="9525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8012906" y="5259585"/>
            <a:ext cx="1835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8012906" y="4954785"/>
            <a:ext cx="1835794" cy="9525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9848701" y="5259585"/>
            <a:ext cx="165749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9848701" y="4954785"/>
            <a:ext cx="1657498" cy="9525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4" y="1816298"/>
            <a:ext cx="10829925" cy="3467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1"/>
          <p:cNvSpPr txBox="1"/>
          <p:nvPr/>
        </p:nvSpPr>
        <p:spPr>
          <a:xfrm>
            <a:off x="819150" y="485775"/>
            <a:ext cx="1123140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Data-Driven Retention Interventions</a:t>
            </a:r>
            <a:endParaRPr dirty="0"/>
          </a:p>
        </p:txBody>
      </p:sp>
      <p:sp>
        <p:nvSpPr>
          <p:cNvPr id="291" name="Google Shape;291;p21"/>
          <p:cNvSpPr/>
          <p:nvPr/>
        </p:nvSpPr>
        <p:spPr>
          <a:xfrm>
            <a:off x="676275" y="485775"/>
            <a:ext cx="47625" cy="36567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1009650" y="2473523"/>
            <a:ext cx="10506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Overhaul Early Career Frameworks: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With 47.3% of all attrition centered strictly within the 25-34 age cohort (112 departures), introducing proactive career mapping, mentoring, and dynamic rotational pathways is critical.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1009650" y="3102173"/>
            <a:ext cx="105060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Targeted Sales Role Interventions: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Since </a:t>
            </a:r>
            <a:r>
              <a:rPr lang="en-US" sz="1200" dirty="0" smtClean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R&amp;D Department</a:t>
            </a:r>
            <a:r>
              <a:rPr lang="en-US" sz="1200" b="0" i="0" u="none" strike="noStrike" cap="none" dirty="0" smtClean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drive 56.12% of total turnover (133 departures), we must evaluate commission structures, compensation models, and core expectations.</a:t>
            </a:r>
            <a:endParaRPr dirty="0"/>
          </a:p>
        </p:txBody>
      </p:sp>
      <p:sp>
        <p:nvSpPr>
          <p:cNvPr id="294" name="Google Shape;294;p21"/>
          <p:cNvSpPr txBox="1"/>
          <p:nvPr/>
        </p:nvSpPr>
        <p:spPr>
          <a:xfrm>
            <a:off x="1009650" y="3730823"/>
            <a:ext cx="10506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Job Satisfaction Calibration: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Address large volume pockets of low satisfaction (Rating '1') within Laboratory Technicians (56 employees) and Research Scientists (54 employees) to prevent secondary turnover risks.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1009650" y="4359473"/>
            <a:ext cx="10506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Onboarding Alignment: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Build specialized onboarding experiences tailored to Life Sciences (89 departures) and Medical graduates (63 departures), who drive over 64% of educational-profile turnover.</a:t>
            </a:r>
            <a:endParaRPr/>
          </a:p>
        </p:txBody>
      </p:sp>
      <p:pic>
        <p:nvPicPr>
          <p:cNvPr id="296" name="Google Shape;29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249733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312598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" y="3754635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" y="4383285"/>
            <a:ext cx="1333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2"/>
          <p:cNvSpPr txBox="1"/>
          <p:nvPr/>
        </p:nvSpPr>
        <p:spPr>
          <a:xfrm>
            <a:off x="819150" y="485775"/>
            <a:ext cx="1123140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Implementation Roadmap</a:t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676275" y="485775"/>
            <a:ext cx="47625" cy="36567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676275" y="3854648"/>
            <a:ext cx="1083945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616658" y="4111823"/>
            <a:ext cx="2503906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smtClean="0">
                <a:solidFill>
                  <a:srgbClr val="00F2FE"/>
                </a:solidFill>
                <a:latin typeface="Poppins"/>
                <a:ea typeface="Poppins"/>
                <a:cs typeface="Poppins"/>
                <a:sym typeface="Poppins"/>
              </a:rPr>
              <a:t>Q1:WE LISTEN</a:t>
            </a:r>
            <a:endParaRPr dirty="0"/>
          </a:p>
        </p:txBody>
      </p:sp>
      <p:sp>
        <p:nvSpPr>
          <p:cNvPr id="309" name="Google Shape;309;p22"/>
          <p:cNvSpPr txBox="1"/>
          <p:nvPr/>
        </p:nvSpPr>
        <p:spPr>
          <a:xfrm>
            <a:off x="676275" y="4374653"/>
            <a:ext cx="2384673" cy="4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 listen to the employees to find out exactly why they are leaving</a:t>
            </a:r>
            <a:endParaRPr dirty="0"/>
          </a:p>
        </p:txBody>
      </p:sp>
      <p:sp>
        <p:nvSpPr>
          <p:cNvPr id="310" name="Google Shape;310;p22"/>
          <p:cNvSpPr txBox="1"/>
          <p:nvPr/>
        </p:nvSpPr>
        <p:spPr>
          <a:xfrm>
            <a:off x="3494483" y="2468880"/>
            <a:ext cx="2384673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F2FE"/>
                </a:solidFill>
                <a:latin typeface="Poppins"/>
                <a:ea typeface="Poppins"/>
                <a:cs typeface="Poppins"/>
                <a:sym typeface="Poppins"/>
              </a:rPr>
              <a:t>Q2: </a:t>
            </a:r>
            <a:r>
              <a:rPr lang="en-US" sz="1350" b="1" i="0" u="none" strike="noStrike" cap="none" dirty="0" smtClean="0">
                <a:solidFill>
                  <a:srgbClr val="00F2FE"/>
                </a:solidFill>
                <a:latin typeface="Poppins"/>
                <a:ea typeface="Poppins"/>
                <a:cs typeface="Poppins"/>
                <a:sym typeface="Poppins"/>
              </a:rPr>
              <a:t>Onboarding Program </a:t>
            </a:r>
            <a:r>
              <a:rPr lang="en-US" sz="1350" b="1" i="0" u="none" strike="noStrike" cap="none" dirty="0">
                <a:solidFill>
                  <a:srgbClr val="00F2FE"/>
                </a:solidFill>
                <a:latin typeface="Poppins"/>
                <a:ea typeface="Poppins"/>
                <a:cs typeface="Poppins"/>
                <a:sym typeface="Poppins"/>
              </a:rPr>
              <a:t>Restructure</a:t>
            </a:r>
            <a:endParaRPr dirty="0"/>
          </a:p>
        </p:txBody>
      </p:sp>
      <p:sp>
        <p:nvSpPr>
          <p:cNvPr id="311" name="Google Shape;311;p22"/>
          <p:cNvSpPr txBox="1"/>
          <p:nvPr/>
        </p:nvSpPr>
        <p:spPr>
          <a:xfrm>
            <a:off x="3494484" y="2967478"/>
            <a:ext cx="2384674" cy="84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will launch our </a:t>
            </a:r>
            <a:r>
              <a:rPr lang="en-US" sz="975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fresh specialized on boarding program for science and medical graduates </a:t>
            </a:r>
            <a:r>
              <a:rPr lang="en-US" sz="975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launch </a:t>
            </a:r>
            <a:r>
              <a:rPr lang="en-US" sz="9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targeted mental wellness audits.</a:t>
            </a:r>
            <a:endParaRPr dirty="0"/>
          </a:p>
        </p:txBody>
      </p:sp>
      <p:sp>
        <p:nvSpPr>
          <p:cNvPr id="312" name="Google Shape;312;p22"/>
          <p:cNvSpPr txBox="1"/>
          <p:nvPr/>
        </p:nvSpPr>
        <p:spPr>
          <a:xfrm>
            <a:off x="6253076" y="4111823"/>
            <a:ext cx="2503906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F2FE"/>
                </a:solidFill>
                <a:latin typeface="Poppins"/>
                <a:ea typeface="Poppins"/>
                <a:cs typeface="Poppins"/>
                <a:sym typeface="Poppins"/>
              </a:rPr>
              <a:t>Q3: Incentive Reform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6312692" y="4383436"/>
            <a:ext cx="2384673" cy="4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will fix pay and bonus structure of high stress roles to keep them .</a:t>
            </a:r>
            <a:endParaRPr dirty="0"/>
          </a:p>
        </p:txBody>
      </p:sp>
      <p:sp>
        <p:nvSpPr>
          <p:cNvPr id="314" name="Google Shape;314;p22"/>
          <p:cNvSpPr txBox="1"/>
          <p:nvPr/>
        </p:nvSpPr>
        <p:spPr>
          <a:xfrm>
            <a:off x="9071286" y="2679799"/>
            <a:ext cx="2503906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F2FE"/>
                </a:solidFill>
                <a:latin typeface="Poppins"/>
                <a:ea typeface="Poppins"/>
                <a:cs typeface="Poppins"/>
                <a:sym typeface="Poppins"/>
              </a:rPr>
              <a:t>Q4: Evaluation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9130903" y="2942629"/>
            <a:ext cx="2384673" cy="84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will check back in with employee satisfaction surveys to prove our changes actually brought our turnover number down.</a:t>
            </a:r>
            <a:endParaRPr dirty="0"/>
          </a:p>
        </p:txBody>
      </p:sp>
      <p:sp>
        <p:nvSpPr>
          <p:cNvPr id="316" name="Google Shape;316;p22"/>
          <p:cNvSpPr/>
          <p:nvPr/>
        </p:nvSpPr>
        <p:spPr>
          <a:xfrm>
            <a:off x="1792411" y="3797498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80F1E"/>
          </a:solidFill>
          <a:ln w="38100" cap="flat" cmpd="sng">
            <a:solidFill>
              <a:srgbClr val="0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4610620" y="3797498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80F1E"/>
          </a:solidFill>
          <a:ln w="38100" cap="flat" cmpd="sng">
            <a:solidFill>
              <a:srgbClr val="0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7428830" y="3797498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80F1E"/>
          </a:solidFill>
          <a:ln w="38100" cap="flat" cmpd="sng">
            <a:solidFill>
              <a:srgbClr val="0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10247039" y="3797498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80F1E"/>
          </a:solidFill>
          <a:ln w="38100" cap="flat" cmpd="sng">
            <a:solidFill>
              <a:srgbClr val="0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596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Poppins</vt:lpstr>
      <vt:lpstr>Calibri</vt:lpstr>
      <vt:lpstr>Poppins SemiBold</vt:lpstr>
      <vt:lpstr>Inter SemiBold</vt:lpstr>
      <vt:lpstr>Arial</vt:lpstr>
      <vt:lpstr>Poppins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11</cp:revision>
  <dcterms:modified xsi:type="dcterms:W3CDTF">2026-06-19T15:43:55Z</dcterms:modified>
</cp:coreProperties>
</file>